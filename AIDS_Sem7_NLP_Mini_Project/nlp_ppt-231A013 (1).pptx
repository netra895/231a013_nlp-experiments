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7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01 •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CampusVoice: NLP-Based Student Feedback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Automatically converting unstructured student comments into structured academic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10972800" cy="3977639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3969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33472"/>
            <a:ext cx="102412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CampusVoice is an NLP-based student feedback intelligence system designed to analyze natural-language student comments automatically. The system processes 726 feedback records using text preprocessing, negation handling, TF-IDF word and character n-gram features, and Logistic Regression. It predicts sentiment as Positive, Neutral, or Negative and identifies the relevant academic category. A hybrid sentiment layer combines the ML model with VADER and domain-specific rules to improve robustness on unseen feedback. Each prediction includes confidence information and is delivered through a FastAPI backend and React interface for analysis, dashboards, insights, and feedback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01091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BEDC"/>
                </a:solidFill>
                <a:latin typeface="Aptos"/>
              </a:rPr>
              <a:t>Core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818888"/>
            <a:ext cx="1645920" cy="621792"/>
          </a:xfrm>
          <a:prstGeom prst="roundRect">
            <a:avLst/>
          </a:prstGeom>
          <a:solidFill>
            <a:srgbClr val="111E35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79" y="4855464"/>
            <a:ext cx="1554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Student feedback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21608" y="5029200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69080" y="4818888"/>
            <a:ext cx="1508760" cy="621792"/>
          </a:xfrm>
          <a:prstGeom prst="roundRect">
            <a:avLst/>
          </a:prstGeom>
          <a:solidFill>
            <a:srgbClr val="111E35"/>
          </a:solidFill>
          <a:ln>
            <a:solidFill>
              <a:srgbClr val="37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4855464"/>
            <a:ext cx="14173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NLP processing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87568" y="5029200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35040" y="4818888"/>
            <a:ext cx="1325880" cy="621792"/>
          </a:xfrm>
          <a:prstGeom prst="roundRect">
            <a:avLst/>
          </a:prstGeom>
          <a:solidFill>
            <a:srgbClr val="111E35"/>
          </a:solidFill>
          <a:ln>
            <a:solidFill>
              <a:srgbClr val="2D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59" y="4855464"/>
            <a:ext cx="12344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Prediction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70648" y="5029200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18120" y="4818888"/>
            <a:ext cx="1554480" cy="621792"/>
          </a:xfrm>
          <a:prstGeom prst="roundRect">
            <a:avLst/>
          </a:prstGeom>
          <a:solidFill>
            <a:srgbClr val="111E35"/>
          </a:solidFill>
          <a:ln>
            <a:solidFill>
              <a:srgbClr val="E0A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855464"/>
            <a:ext cx="1463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Campus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2195"/>
            <a:ext cx="7269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A6B5CA"/>
                </a:solidFill>
                <a:latin typeface="Aptos"/>
              </a:rPr>
              <a:t>Netra Neman – 231A013</a:t>
            </a:r>
            <a:endParaRPr sz="2000" b="1" dirty="0">
              <a:solidFill>
                <a:srgbClr val="A6B5C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02 • NLP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How the feedback text is processed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The NLP pipeline is the main technical contribution of the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38528"/>
            <a:ext cx="1627632" cy="1389888"/>
          </a:xfrm>
          <a:prstGeom prst="roundRect">
            <a:avLst/>
          </a:prstGeom>
          <a:solidFill>
            <a:srgbClr val="111E35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92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775E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Text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1444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6B5CA"/>
                </a:solidFill>
                <a:latin typeface="Aptos"/>
              </a:rPr>
              <a:t>Raw student comment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76856" y="2542032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96312" y="1938528"/>
            <a:ext cx="1627632" cy="1389888"/>
          </a:xfrm>
          <a:prstGeom prst="roundRect">
            <a:avLst/>
          </a:prstGeom>
          <a:solidFill>
            <a:srgbClr val="111E35"/>
          </a:solidFill>
          <a:ln>
            <a:solidFill>
              <a:srgbClr val="37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7752" y="2057400"/>
            <a:ext cx="292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7BEDC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3591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2724912"/>
            <a:ext cx="1444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6B5CA"/>
                </a:solidFill>
                <a:latin typeface="Aptos"/>
              </a:rPr>
              <a:t>Cleaning + normalization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78808" y="2542032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98264" y="1938528"/>
            <a:ext cx="1627632" cy="1389888"/>
          </a:xfrm>
          <a:prstGeom prst="roundRect">
            <a:avLst/>
          </a:prstGeom>
          <a:solidFill>
            <a:srgbClr val="111E35"/>
          </a:solidFill>
          <a:ln>
            <a:solidFill>
              <a:srgbClr val="E74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9704" y="2057400"/>
            <a:ext cx="292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7484E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3591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Negation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724912"/>
            <a:ext cx="1444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6B5CA"/>
                </a:solidFill>
                <a:latin typeface="Aptos"/>
              </a:rPr>
              <a:t>Detect “not good” patterns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80760" y="2542032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0216" y="1938528"/>
            <a:ext cx="1627632" cy="1389888"/>
          </a:xfrm>
          <a:prstGeom prst="roundRect">
            <a:avLst/>
          </a:prstGeom>
          <a:solidFill>
            <a:srgbClr val="111E35"/>
          </a:solidFill>
          <a:ln>
            <a:solidFill>
              <a:srgbClr val="E0A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2057400"/>
            <a:ext cx="292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0A42C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591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TF-IDF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724912"/>
            <a:ext cx="1444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6B5CA"/>
                </a:solidFill>
                <a:latin typeface="Aptos"/>
              </a:rPr>
              <a:t>Word + character n-grams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82712" y="2542032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02168" y="1938528"/>
            <a:ext cx="1627632" cy="1389888"/>
          </a:xfrm>
          <a:prstGeom prst="roundRect">
            <a:avLst/>
          </a:prstGeom>
          <a:solidFill>
            <a:srgbClr val="111E35"/>
          </a:solidFill>
          <a:ln>
            <a:solidFill>
              <a:srgbClr val="2D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2057400"/>
            <a:ext cx="292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DBE69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3591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ML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724912"/>
            <a:ext cx="1444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6B5CA"/>
                </a:solidFill>
                <a:latin typeface="Aptos"/>
              </a:rPr>
              <a:t>Logistic Regression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84664" y="2542032"/>
            <a:ext cx="274320" cy="164592"/>
          </a:xfrm>
          <a:prstGeom prst="rightArrow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04120" y="1938528"/>
            <a:ext cx="1627632" cy="1389888"/>
          </a:xfrm>
          <a:prstGeom prst="roundRect">
            <a:avLst/>
          </a:prstGeom>
          <a:solidFill>
            <a:srgbClr val="111E35"/>
          </a:solidFill>
          <a:ln>
            <a:solidFill>
              <a:srgbClr val="37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95560" y="2057400"/>
            <a:ext cx="292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7BEDC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359152"/>
            <a:ext cx="1444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724912"/>
            <a:ext cx="1444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A6B5CA"/>
                </a:solidFill>
                <a:latin typeface="Aptos"/>
              </a:rPr>
              <a:t>Label + confidence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749039"/>
            <a:ext cx="5303520" cy="2029968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00507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Feature engineering: TF-IDF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576572"/>
            <a:ext cx="4526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/>
              <a:t>• Word n-grams capture meaningful words and phrases.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/>
              <a:t>• Character n-grams capture partial word patterns and spelling variations.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/>
              <a:t>• Both representations are combined before classification.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3749039"/>
            <a:ext cx="5422392" cy="2029968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40050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Negation-aware 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4531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“The laboratory facilities are not good.”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425696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7484E"/>
                </a:solidFill>
                <a:latin typeface="Aptos"/>
              </a:rPr>
              <a:t>→ NEGATIVE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89204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484E"/>
                </a:solidFill>
                <a:latin typeface="Aptos"/>
              </a:rPr>
              <a:t>Negation detected: 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523036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A6B5CA"/>
                </a:solidFill>
                <a:latin typeface="Aptos"/>
              </a:rPr>
              <a:t>The pipeline prevents a positive word such as “good” from being interpreted without its surrounding negation.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1">
                <a:solidFill>
                  <a:srgbClr val="A6B5CA"/>
                </a:solidFill>
                <a:latin typeface="Aptos"/>
              </a:rPr>
              <a:t>CAMPUSVOICE  •  NLP STUDENT FEEDBACK 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D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03 •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How sentiment analysis was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A hybrid approach combines supervised learning with rule-based and lexicon-based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3246120" cy="4133087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75EB"/>
                </a:solidFill>
                <a:latin typeface="Aptos"/>
              </a:rPr>
              <a:t>A.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Word + character TF-IDF features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Trained on labeled feedback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Predicts Positive / Neutral / Negative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Model probability provides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DBE69"/>
                </a:solidFill>
                <a:latin typeface="Aptos"/>
              </a:rPr>
              <a:t>84.14%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06577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6B5CA"/>
                </a:solidFill>
                <a:latin typeface="Aptos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47088"/>
            <a:ext cx="3246120" cy="4133087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12140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BEDC"/>
                </a:solidFill>
                <a:latin typeface="Aptos"/>
              </a:rPr>
              <a:t>B. VADER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4203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Lexicon-based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090672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Produces a compound sentiment score.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Adds an independent sentiment signal.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Useful for strongly worded short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6177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5CA"/>
                </a:solidFill>
                <a:latin typeface="Aptos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91947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484E"/>
                </a:solidFill>
                <a:latin typeface="Aptos"/>
              </a:rPr>
              <a:t>“terrible”, “breaking” → strong negative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47088"/>
            <a:ext cx="3840480" cy="4133087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21214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7484E"/>
                </a:solidFill>
                <a:latin typeface="Aptos"/>
              </a:rPr>
              <a:t>C. DOMAIN RULES + NEGATION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65176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20">
                <a:solidFill>
                  <a:srgbClr val="F5F8FC"/>
                </a:solidFill>
                <a:latin typeface="Aptos"/>
              </a:defRPr>
            </a:pPr>
            <a:r>
              <a:t>• Education-specific sentiment terms.</a:t>
            </a:r>
          </a:p>
          <a:p>
            <a:pPr>
              <a:spcAft>
                <a:spcPts val="700"/>
              </a:spcAft>
              <a:defRPr sz="1120">
                <a:solidFill>
                  <a:srgbClr val="F5F8FC"/>
                </a:solidFill>
                <a:latin typeface="Aptos"/>
              </a:defRPr>
            </a:pPr>
            <a:r>
              <a:t>• Explicit negation detection.</a:t>
            </a:r>
          </a:p>
          <a:p>
            <a:pPr>
              <a:spcAft>
                <a:spcPts val="700"/>
              </a:spcAft>
              <a:defRPr sz="1120">
                <a:solidFill>
                  <a:srgbClr val="F5F8FC"/>
                </a:solidFill>
                <a:latin typeface="Aptos"/>
              </a:defRPr>
            </a:pPr>
            <a:r>
              <a:t>• Helps handle obvious unseen feedback cases.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069080"/>
            <a:ext cx="960120" cy="502920"/>
          </a:xfrm>
          <a:prstGeom prst="roundRect">
            <a:avLst/>
          </a:prstGeom>
          <a:solidFill>
            <a:srgbClr val="111E35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4105656"/>
            <a:ext cx="868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069080"/>
            <a:ext cx="1005840" cy="502920"/>
          </a:xfrm>
          <a:prstGeom prst="roundRect">
            <a:avLst/>
          </a:prstGeom>
          <a:solidFill>
            <a:srgbClr val="111E35"/>
          </a:solidFill>
          <a:ln>
            <a:solidFill>
              <a:srgbClr val="37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4105656"/>
            <a:ext cx="91440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VADER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4069080"/>
            <a:ext cx="914400" cy="502920"/>
          </a:xfrm>
          <a:prstGeom prst="roundRect">
            <a:avLst/>
          </a:prstGeom>
          <a:solidFill>
            <a:srgbClr val="111E35"/>
          </a:solidFill>
          <a:ln>
            <a:solidFill>
              <a:srgbClr val="E74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78440" y="4105656"/>
            <a:ext cx="822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178808"/>
            <a:ext cx="1097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178808"/>
            <a:ext cx="1097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92040"/>
            <a:ext cx="2880360" cy="621792"/>
          </a:xfrm>
          <a:prstGeom prst="roundRect">
            <a:avLst/>
          </a:prstGeom>
          <a:solidFill>
            <a:srgbClr val="111E35"/>
          </a:solidFill>
          <a:ln>
            <a:solidFill>
              <a:srgbClr val="2D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4928616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F8FC"/>
                </a:solidFill>
                <a:latin typeface="Aptos"/>
              </a:rPr>
              <a:t>FINAL SENTIMENT +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1">
                <a:solidFill>
                  <a:srgbClr val="A6B5CA"/>
                </a:solidFill>
                <a:latin typeface="Aptos"/>
              </a:rPr>
              <a:t>CAMPUSVOICE  •  NLP STUDENT FEEDBACK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0A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Model results and what they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The sentiment model is stronger than category classification, so confidence is shown to the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542032" cy="1188720"/>
          </a:xfrm>
          <a:prstGeom prst="roundRect">
            <a:avLst/>
          </a:prstGeom>
          <a:solidFill>
            <a:srgbClr val="111E35"/>
          </a:solidFill>
          <a:ln>
            <a:solidFill>
              <a:srgbClr val="2D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084831"/>
            <a:ext cx="23225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BE69"/>
                </a:solidFill>
                <a:latin typeface="Aptos"/>
              </a:rPr>
              <a:t>84.14%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78608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A6B5CA"/>
                </a:solidFill>
                <a:latin typeface="Aptos"/>
              </a:rPr>
              <a:t>Sentiment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874519"/>
            <a:ext cx="2542032" cy="1188720"/>
          </a:xfrm>
          <a:prstGeom prst="roundRect">
            <a:avLst/>
          </a:prstGeom>
          <a:solidFill>
            <a:srgbClr val="111E35"/>
          </a:solidFill>
          <a:ln>
            <a:solidFill>
              <a:srgbClr val="2D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11296" y="2084831"/>
            <a:ext cx="23225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BE69"/>
                </a:solidFill>
                <a:latin typeface="Aptos"/>
              </a:rPr>
              <a:t>≈0.8435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578608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A6B5CA"/>
                </a:solidFill>
                <a:latin typeface="Aptos"/>
              </a:rPr>
              <a:t>Sentiment F1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874519"/>
            <a:ext cx="2542032" cy="1188720"/>
          </a:xfrm>
          <a:prstGeom prst="roundRect">
            <a:avLst/>
          </a:prstGeom>
          <a:solidFill>
            <a:srgbClr val="111E35"/>
          </a:solidFill>
          <a:ln>
            <a:solidFill>
              <a:srgbClr val="E0A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18504" y="2084831"/>
            <a:ext cx="23225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0A42C"/>
                </a:solidFill>
                <a:latin typeface="Aptos"/>
              </a:rPr>
              <a:t>66.44%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578608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A6B5CA"/>
                </a:solidFill>
                <a:latin typeface="Aptos"/>
              </a:rPr>
              <a:t>Category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874519"/>
            <a:ext cx="2542032" cy="1188720"/>
          </a:xfrm>
          <a:prstGeom prst="roundRect">
            <a:avLst/>
          </a:prstGeom>
          <a:solidFill>
            <a:srgbClr val="111E35"/>
          </a:solidFill>
          <a:ln>
            <a:solidFill>
              <a:srgbClr val="377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711" y="2084831"/>
            <a:ext cx="23225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775EB"/>
                </a:solidFill>
                <a:latin typeface="Aptos"/>
              </a:rPr>
              <a:t>726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2578608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A6B5CA"/>
                </a:solidFill>
                <a:latin typeface="Aptos"/>
              </a:rPr>
              <a:t>Feedback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83280"/>
            <a:ext cx="5349240" cy="2487168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657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4526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Sentiment prediction performs well on the evaluation set.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Hybrid rules are an enhancement for unseen feedback, not a claim of perfect accuracy.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Category classification is more challenging and is therefore presented with confidence.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83280"/>
            <a:ext cx="5394960" cy="2487168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6576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What the system returns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96512"/>
            <a:ext cx="4434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Sentiment label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Sentiment confidence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Predicted academic category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Category confidence</a:t>
            </a:r>
          </a:p>
          <a:p>
            <a:pPr>
              <a:spcAft>
                <a:spcPts val="7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• Negation detected / analysis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1">
                <a:solidFill>
                  <a:srgbClr val="A6B5CA"/>
                </a:solidFill>
                <a:latin typeface="Aptos"/>
              </a:rPr>
              <a:t>CAMPUSVOICE  •  NLP STUDENT FEEDBACK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74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05 • ACTUAL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Working application: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These are real outputs from the completed CampusVoice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486400" cy="4251960"/>
          </a:xfrm>
          <a:prstGeom prst="roundRect">
            <a:avLst/>
          </a:prstGeom>
          <a:solidFill>
            <a:srgbClr val="030913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10-07 at 23.10.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2730245"/>
            <a:ext cx="5358384" cy="25405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91072" y="1874519"/>
            <a:ext cx="5285232" cy="4251960"/>
          </a:xfrm>
          <a:prstGeom prst="roundRect">
            <a:avLst/>
          </a:prstGeom>
          <a:solidFill>
            <a:srgbClr val="030913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10-07 at 23.11.1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784507"/>
            <a:ext cx="5157216" cy="24319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824728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7484E"/>
                </a:solidFill>
                <a:latin typeface="Aptos"/>
              </a:rPr>
              <a:t>NEGATIVE  •  “The facilities are terrible and the equipment keeps breaking.”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582472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DBE69"/>
                </a:solidFill>
                <a:latin typeface="Aptos"/>
              </a:rPr>
              <a:t>POSITIVE  •  “The teacher explains everything very clearly and is extremely helpful.”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1">
                <a:solidFill>
                  <a:srgbClr val="A6B5CA"/>
                </a:solidFill>
                <a:latin typeface="Aptos"/>
              </a:rPr>
              <a:t>CAMPUSVOICE  •  NLP STUDENT FEEDBACK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7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06 • APPLICATION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From NLP predictions to dashboard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The individual sentiment predictions are aggregated into an interpretable campus overview.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10972800" cy="2148840"/>
          </a:xfrm>
          <a:prstGeom prst="roundRect">
            <a:avLst/>
          </a:prstGeom>
          <a:solidFill>
            <a:srgbClr val="030913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10-07 at 23.11.4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874" y="1911095"/>
            <a:ext cx="5433771" cy="20208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4251960"/>
            <a:ext cx="10972800" cy="1847088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59028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DBE69"/>
                </a:solidFill>
                <a:latin typeface="Aptos"/>
              </a:rPr>
              <a:t>62.26%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10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5CA"/>
                </a:solidFill>
                <a:latin typeface="Aptos"/>
              </a:rPr>
              <a:t>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59028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0A42C"/>
                </a:solidFill>
                <a:latin typeface="Aptos"/>
              </a:rPr>
              <a:t>18.60%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010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5CA"/>
                </a:solidFill>
                <a:latin typeface="Aptos"/>
              </a:rPr>
              <a:t>Neutral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459028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7484E"/>
                </a:solidFill>
                <a:latin typeface="Aptos"/>
              </a:rPr>
              <a:t>19.15%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5010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5CA"/>
                </a:solidFill>
                <a:latin typeface="Aptos"/>
              </a:rPr>
              <a:t>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59028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3775EB"/>
                </a:solidFill>
                <a:latin typeface="Aptos"/>
              </a:rPr>
              <a:t>726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50109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6B5CA"/>
                </a:solidFill>
                <a:latin typeface="Aptos"/>
              </a:rPr>
              <a:t>Total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553712"/>
            <a:ext cx="187451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5F8FC"/>
                </a:solidFill>
                <a:latin typeface="Aptos"/>
              </a:rPr>
              <a:t>The dashboard makes the NLP output understandable at a glance and helps identify where attention may be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1">
                <a:solidFill>
                  <a:srgbClr val="A6B5CA"/>
                </a:solidFill>
                <a:latin typeface="Aptos"/>
              </a:rPr>
              <a:t>CAMPUSVOICE  •  NLP STUDENT FEEDBACK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BEDC"/>
                </a:solidFill>
                <a:latin typeface="Aptos"/>
              </a:rPr>
              <a:t>07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Key contribution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A"/>
                </a:solidFill>
                <a:latin typeface="Aptos"/>
              </a:rPr>
              <a:t>CampusVoice demonstrates a complete NLP workflow from raw text to usable feedback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5349240" cy="4160520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Main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4526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End-to-end student feedback NLP pipeline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Preprocessing + negation-aware handling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Word and character TF-IDF feature engineering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Logistic Regression sentiment and category models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Hybrid ML + VADER + domain rules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Confidence-aware predictions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FastAPI + React application for practical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47088"/>
            <a:ext cx="5394960" cy="4160520"/>
          </a:xfrm>
          <a:prstGeom prst="roundRect">
            <a:avLst/>
          </a:prstGeom>
          <a:solidFill>
            <a:srgbClr val="111E35"/>
          </a:solidFill>
          <a:ln>
            <a:solidFill>
              <a:srgbClr val="2F4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12140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Future NLP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70048"/>
            <a:ext cx="4526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Larger and more diverse datasets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Multilingual sentiment analysis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Aspect-based sentiment analysis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BERT / transformer models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Semester-wise trend analysis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Recurring-issue detection</a:t>
            </a:r>
          </a:p>
          <a:p>
            <a:pPr>
              <a:spcAft>
                <a:spcPts val="700"/>
              </a:spcAft>
              <a:defRPr sz="1140">
                <a:solidFill>
                  <a:srgbClr val="F5F8FC"/>
                </a:solidFill>
                <a:latin typeface="Aptos"/>
              </a:defRPr>
            </a:pPr>
            <a:r>
              <a:t>• Human-in-the-loop correction for low-confidence 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4406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BEDC"/>
                </a:solidFill>
                <a:latin typeface="Aptos"/>
              </a:rPr>
              <a:t>CampusVoice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4223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BE69"/>
                </a:solidFill>
                <a:latin typeface="Aptos"/>
              </a:rPr>
              <a:t>Every student voice deserves to be understood.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1">
                <a:solidFill>
                  <a:srgbClr val="A6B5CA"/>
                </a:solidFill>
                <a:latin typeface="Aptos"/>
              </a:rPr>
              <a:t>CAMPUSVOICE  •  NLP STUDENT FEEDBACK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744</Words>
  <Application>Microsoft Office PowerPoint</Application>
  <PresentationFormat>Widescreen</PresentationFormat>
  <Paragraphs>141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2026-10-07T18:04:53Z</dcterms:modified>
  <cp:category/>
</cp:coreProperties>
</file>